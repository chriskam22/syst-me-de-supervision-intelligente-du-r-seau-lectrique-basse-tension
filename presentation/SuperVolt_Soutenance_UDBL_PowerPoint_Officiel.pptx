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59" r:id="rId5"/>
    <p:sldId id="271" r:id="rId6"/>
    <p:sldId id="278" r:id="rId7"/>
    <p:sldId id="26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DEA06-DE66-4D4E-A3E7-A1299FC4A203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B759B-007A-4712-90E2-9CE06DD76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67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A9F29-75D7-44A5-B249-DF32D235B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8AC5A0-D918-481E-ABEC-26B7546A6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251FED-1F4F-491B-BF30-A9B4AAF1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7258A-3276-4EA6-9BDB-007F6B84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F6876D-33F2-4FC2-84CC-0BED0324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10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49A5C-F968-48C3-BBC8-9998A961C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2207AF-3C93-4668-8792-CFC08AF5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6AF7D-3713-4343-83DB-661CA8FA1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8B2D2D-DE59-4469-B67F-5EEC98DB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56A79D-1D04-4E8C-980A-C068CB2E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28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40095-C3B3-4C95-A803-7B8A47A1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521E55-0F8C-45A4-91AB-22A37B296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BFFC0B-F3C3-440C-96EC-9B5B12D4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336BD8-7226-4353-9720-F7BE6F20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06D4D5-BFFB-438A-8049-F93AAB8D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8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202C3D-8750-4500-9E6A-332DAC5D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B634DB-289E-45AD-9797-4C21C88A2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7AB114-2EB7-4854-AE33-3229BC1A4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659668-E060-4A84-A84C-ECE9E28E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C3E201-8A5A-4921-8BE0-A522DC44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79ADAF-A22E-48F3-BEDF-C65819E3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6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DF288-04E9-4147-9E89-F2C9C70E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7A3B13-CF4A-4BD7-ACCB-078C8EBA0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C8368A-7095-43B3-9441-F544449E7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8CDABE-5AFF-48CD-80BD-4D0BD8F64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59CD69-9E08-4867-ACAA-AEE4A05E5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E1D1C1-105E-4948-9A00-7BFB8C8B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550D4B5-1954-445F-BA8F-298F16D3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599026-ADD7-45F9-8913-97287507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30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23C9FB-1475-4EC3-8073-30D3485C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533555-CB7A-421A-BCCC-5CC3E5FE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BA8211-585B-4E1E-989A-1910C9C3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D44E56-853C-490E-8AC0-8BAE6C50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06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07C8B0-5200-406E-A803-8A955F20C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F3A8FB-DCA3-4AEC-B26F-F6EE0950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FFFE81-290B-45FD-A2E6-4BC8B925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42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2022F-A0AD-47C1-997C-DA7A3700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B960AF-9CD2-4E96-9BC4-191C7B9E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AEF69C-7247-4A62-A53C-E5DC27BC0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495BAF-C61F-45A1-B407-3C601F5B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7A156A-B7BC-4FCC-BE3F-ACE89F53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048C9B-FAB5-4039-96F3-A0974F32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86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04D67A-7327-428F-822B-B6BC9D49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91357-9F12-4EE0-933D-716782728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BA4C5C-1128-4F1E-A2AF-94A8E2723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B8C863-33D3-4DB6-B03D-49A4466F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CDBDF9-AFA0-4EEE-981C-957079B2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A39E93-1152-4E1C-A8E1-3740C58E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03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A75E1-9722-4C58-9DA3-E2554A07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A5C9C5-38C7-4ED3-959A-4F51426D7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F68EDD-0017-45A8-A5D0-1209D6E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7F622A-37E6-47DC-8171-73BF1FEE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9D1A8-F227-43F7-8AE8-D93763D3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55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F8D023-42F4-421E-B09D-B6A645CE5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6B2161-974B-4B6A-9381-857EF5E2E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5D996-DC57-4AC2-AE4E-BED82127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F2B30-CADE-47E6-925A-1C1C3810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E4814B-FC5F-4EB3-9187-C1BA3BB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93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46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C42F9E-83B7-4A37-8582-A5CBFC2F1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95C878-05C5-45E4-B8B5-5AA02CA70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80F8FD-EB63-4305-A16A-55E8CF5F6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7ACF0-CD62-4A1E-9B5A-A8D3CEF503A7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B82C8-B25A-451B-B19C-3A5627F70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F273EE-F14B-4B7A-BEEB-252FCDD80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9E209-7BF4-40BF-B26C-846D9BE7E2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473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BA7D9A-9F15-469E-AD2B-20BB1DFC69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AF9581-C368-46ED-95D2-9255AA89102E}"/>
              </a:ext>
            </a:extLst>
          </p:cNvPr>
          <p:cNvSpPr/>
          <p:nvPr/>
        </p:nvSpPr>
        <p:spPr>
          <a:xfrm>
            <a:off x="508000" y="787400"/>
            <a:ext cx="76200" cy="50546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F0F469-407B-4377-B1CB-036B36FC0AE9}"/>
              </a:ext>
            </a:extLst>
          </p:cNvPr>
          <p:cNvSpPr/>
          <p:nvPr/>
        </p:nvSpPr>
        <p:spPr>
          <a:xfrm>
            <a:off x="774700" y="787400"/>
            <a:ext cx="2387600" cy="304800"/>
          </a:xfrm>
          <a:prstGeom prst="rect">
            <a:avLst/>
          </a:prstGeom>
          <a:solidFill>
            <a:srgbClr val="111D31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B1E408-C00E-4F59-AD0A-8A3B06E66861}"/>
              </a:ext>
            </a:extLst>
          </p:cNvPr>
          <p:cNvSpPr txBox="1"/>
          <p:nvPr/>
        </p:nvSpPr>
        <p:spPr>
          <a:xfrm>
            <a:off x="850900" y="863600"/>
            <a:ext cx="223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00" b="1">
                <a:solidFill>
                  <a:srgbClr val="F8FAFC"/>
                </a:solidFill>
                <a:latin typeface="Aptos"/>
              </a:rPr>
              <a:t>SOUTENANCE BAC+3 - UDBL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5AFBC9F-2EE4-4F52-AA27-5E11761EE7E3}"/>
              </a:ext>
            </a:extLst>
          </p:cNvPr>
          <p:cNvSpPr txBox="1"/>
          <p:nvPr/>
        </p:nvSpPr>
        <p:spPr>
          <a:xfrm>
            <a:off x="749300" y="1231900"/>
            <a:ext cx="4953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4400" b="1">
                <a:solidFill>
                  <a:srgbClr val="F8FAFC"/>
                </a:solidFill>
                <a:latin typeface="Aptos"/>
              </a:rPr>
              <a:t>SuperVolt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A337923-D781-4F08-99F8-58BC46BE60C5}"/>
              </a:ext>
            </a:extLst>
          </p:cNvPr>
          <p:cNvSpPr txBox="1"/>
          <p:nvPr/>
        </p:nvSpPr>
        <p:spPr>
          <a:xfrm>
            <a:off x="749300" y="1968500"/>
            <a:ext cx="596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500" b="1">
                <a:solidFill>
                  <a:srgbClr val="CBD5E1"/>
                </a:solidFill>
                <a:latin typeface="Aptos"/>
              </a:rPr>
              <a:t>Supervision intelligente du reseau BT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4A754CF-4B1B-4DAD-8528-17F29F6D4BF0}"/>
              </a:ext>
            </a:extLst>
          </p:cNvPr>
          <p:cNvSpPr txBox="1"/>
          <p:nvPr/>
        </p:nvSpPr>
        <p:spPr>
          <a:xfrm>
            <a:off x="774700" y="26289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>
                <a:solidFill>
                  <a:srgbClr val="F8FAFC"/>
                </a:solidFill>
                <a:latin typeface="Aptos"/>
              </a:rPr>
              <a:t>Prototype SCADA pour cabines, departs BT et poteaux strategiques.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96251B1-4E8E-40DB-B106-70FAA1EE2D11}"/>
              </a:ext>
            </a:extLst>
          </p:cNvPr>
          <p:cNvSpPr txBox="1"/>
          <p:nvPr/>
        </p:nvSpPr>
        <p:spPr>
          <a:xfrm>
            <a:off x="774700" y="31242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200">
                <a:solidFill>
                  <a:srgbClr val="CBD5E1"/>
                </a:solidFill>
                <a:latin typeface="Aptos"/>
              </a:rPr>
              <a:t>NODE_LUB_001 : Arduino UNO, potentiometre, photoresistance et relais.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5FA2D3-7027-4229-97D7-50A1432821C7}"/>
              </a:ext>
            </a:extLst>
          </p:cNvPr>
          <p:cNvSpPr/>
          <p:nvPr/>
        </p:nvSpPr>
        <p:spPr>
          <a:xfrm>
            <a:off x="6451600" y="1333500"/>
            <a:ext cx="1600200" cy="749300"/>
          </a:xfrm>
          <a:prstGeom prst="rect">
            <a:avLst/>
          </a:prstGeom>
          <a:solidFill>
            <a:srgbClr val="17243A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A6E2BB2-568A-4D10-AC26-A2EA24047A64}"/>
              </a:ext>
            </a:extLst>
          </p:cNvPr>
          <p:cNvSpPr txBox="1"/>
          <p:nvPr/>
        </p:nvSpPr>
        <p:spPr>
          <a:xfrm>
            <a:off x="6527800" y="1460500"/>
            <a:ext cx="144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F8FAFC"/>
                </a:solidFill>
                <a:latin typeface="Aptos"/>
              </a:rPr>
              <a:t>Arduino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14A5F3C-7385-4DC3-8651-72445E326D3E}"/>
              </a:ext>
            </a:extLst>
          </p:cNvPr>
          <p:cNvSpPr txBox="1"/>
          <p:nvPr/>
        </p:nvSpPr>
        <p:spPr>
          <a:xfrm>
            <a:off x="6527800" y="1790700"/>
            <a:ext cx="144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/>
              </a:rPr>
              <a:t>mesures terrain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7CD330-F513-4B3A-B666-078F3412E57D}"/>
              </a:ext>
            </a:extLst>
          </p:cNvPr>
          <p:cNvSpPr/>
          <p:nvPr/>
        </p:nvSpPr>
        <p:spPr>
          <a:xfrm>
            <a:off x="8737600" y="1333500"/>
            <a:ext cx="1600200" cy="749300"/>
          </a:xfrm>
          <a:prstGeom prst="rect">
            <a:avLst/>
          </a:prstGeom>
          <a:solidFill>
            <a:srgbClr val="17243A"/>
          </a:solidFill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E34B264-511C-49E9-80F5-468349C5B844}"/>
              </a:ext>
            </a:extLst>
          </p:cNvPr>
          <p:cNvSpPr txBox="1"/>
          <p:nvPr/>
        </p:nvSpPr>
        <p:spPr>
          <a:xfrm>
            <a:off x="8813800" y="1460500"/>
            <a:ext cx="144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F8FAFC"/>
                </a:solidFill>
                <a:latin typeface="Aptos"/>
              </a:rPr>
              <a:t>Gateway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1074427-ABBB-4818-BFE0-89086265E8D5}"/>
              </a:ext>
            </a:extLst>
          </p:cNvPr>
          <p:cNvSpPr txBox="1"/>
          <p:nvPr/>
        </p:nvSpPr>
        <p:spPr>
          <a:xfrm>
            <a:off x="8813800" y="1790700"/>
            <a:ext cx="144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/>
              </a:rPr>
              <a:t>Python MQTT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2193A-6C66-4772-9664-16B998F96C2B}"/>
              </a:ext>
            </a:extLst>
          </p:cNvPr>
          <p:cNvSpPr/>
          <p:nvPr/>
        </p:nvSpPr>
        <p:spPr>
          <a:xfrm>
            <a:off x="6451600" y="3238500"/>
            <a:ext cx="1600200" cy="749300"/>
          </a:xfrm>
          <a:prstGeom prst="rect">
            <a:avLst/>
          </a:prstGeom>
          <a:solidFill>
            <a:srgbClr val="17243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DA542B-2137-4651-8F0E-8C3682EFE45E}"/>
              </a:ext>
            </a:extLst>
          </p:cNvPr>
          <p:cNvSpPr txBox="1"/>
          <p:nvPr/>
        </p:nvSpPr>
        <p:spPr>
          <a:xfrm>
            <a:off x="6527800" y="3365500"/>
            <a:ext cx="144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F8FAFC"/>
                </a:solidFill>
                <a:latin typeface="Aptos"/>
              </a:rPr>
              <a:t>Backend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B29A8F-9F90-4089-BDDA-556E754BD714}"/>
              </a:ext>
            </a:extLst>
          </p:cNvPr>
          <p:cNvSpPr txBox="1"/>
          <p:nvPr/>
        </p:nvSpPr>
        <p:spPr>
          <a:xfrm>
            <a:off x="6527800" y="3695700"/>
            <a:ext cx="144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/>
              </a:rPr>
              <a:t>FastAPI SQLite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5EE208-67E8-435E-B451-96BE5B0E6D73}"/>
              </a:ext>
            </a:extLst>
          </p:cNvPr>
          <p:cNvSpPr/>
          <p:nvPr/>
        </p:nvSpPr>
        <p:spPr>
          <a:xfrm>
            <a:off x="8737600" y="3238500"/>
            <a:ext cx="1600200" cy="749300"/>
          </a:xfrm>
          <a:prstGeom prst="rect">
            <a:avLst/>
          </a:prstGeom>
          <a:solidFill>
            <a:srgbClr val="17243A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7232DF-C05B-4D1A-80C5-A882BEE52AA5}"/>
              </a:ext>
            </a:extLst>
          </p:cNvPr>
          <p:cNvSpPr txBox="1"/>
          <p:nvPr/>
        </p:nvSpPr>
        <p:spPr>
          <a:xfrm>
            <a:off x="8813800" y="3365500"/>
            <a:ext cx="144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200" b="1">
                <a:solidFill>
                  <a:srgbClr val="F8FAFC"/>
                </a:solidFill>
                <a:latin typeface="Aptos"/>
              </a:rPr>
              <a:t>Dashboard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CF7F159-B841-4C05-8942-D04F90DCC8C3}"/>
              </a:ext>
            </a:extLst>
          </p:cNvPr>
          <p:cNvSpPr txBox="1"/>
          <p:nvPr/>
        </p:nvSpPr>
        <p:spPr>
          <a:xfrm>
            <a:off x="8813800" y="3695700"/>
            <a:ext cx="1447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CBD5E1"/>
                </a:solidFill>
                <a:latin typeface="Aptos"/>
              </a:rPr>
              <a:t>React Leaflet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9768B1E0-6901-4E5A-9BB4-CE5308BA3588}"/>
              </a:ext>
            </a:extLst>
          </p:cNvPr>
          <p:cNvCxnSpPr/>
          <p:nvPr/>
        </p:nvCxnSpPr>
        <p:spPr>
          <a:xfrm>
            <a:off x="8064500" y="1701800"/>
            <a:ext cx="647700" cy="0"/>
          </a:xfrm>
          <a:prstGeom prst="line">
            <a:avLst/>
          </a:prstGeom>
          <a:ln w="25400">
            <a:solidFill>
              <a:srgbClr val="22D3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4E1B041-CD1A-47EE-BF49-228B1F26B5E7}"/>
              </a:ext>
            </a:extLst>
          </p:cNvPr>
          <p:cNvCxnSpPr/>
          <p:nvPr/>
        </p:nvCxnSpPr>
        <p:spPr>
          <a:xfrm>
            <a:off x="7251700" y="2108200"/>
            <a:ext cx="0" cy="1104900"/>
          </a:xfrm>
          <a:prstGeom prst="line">
            <a:avLst/>
          </a:prstGeom>
          <a:ln w="25400">
            <a:solidFill>
              <a:srgbClr val="22D3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F2D0A97-1F45-4096-B623-8208FDB30346}"/>
              </a:ext>
            </a:extLst>
          </p:cNvPr>
          <p:cNvCxnSpPr/>
          <p:nvPr/>
        </p:nvCxnSpPr>
        <p:spPr>
          <a:xfrm>
            <a:off x="8064500" y="3606800"/>
            <a:ext cx="647700" cy="0"/>
          </a:xfrm>
          <a:prstGeom prst="line">
            <a:avLst/>
          </a:prstGeom>
          <a:ln w="25400">
            <a:solidFill>
              <a:srgbClr val="22D3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65FD1C51-A525-4A9A-8480-1208F1937E0B}"/>
              </a:ext>
            </a:extLst>
          </p:cNvPr>
          <p:cNvSpPr/>
          <p:nvPr/>
        </p:nvSpPr>
        <p:spPr>
          <a:xfrm>
            <a:off x="774700" y="5994400"/>
            <a:ext cx="152400" cy="1524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F5442EE-0F7F-4360-BC23-FAD52CF3C904}"/>
              </a:ext>
            </a:extLst>
          </p:cNvPr>
          <p:cNvSpPr txBox="1"/>
          <p:nvPr/>
        </p:nvSpPr>
        <p:spPr>
          <a:xfrm>
            <a:off x="990600" y="6009044"/>
            <a:ext cx="952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800" dirty="0">
                <a:solidFill>
                  <a:srgbClr val="CBD5E1"/>
                </a:solidFill>
                <a:latin typeface="Aptos"/>
              </a:rPr>
              <a:t>Normal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EADDB53-6ED9-43B4-9122-F1BC55A9A7ED}"/>
              </a:ext>
            </a:extLst>
          </p:cNvPr>
          <p:cNvSpPr/>
          <p:nvPr/>
        </p:nvSpPr>
        <p:spPr>
          <a:xfrm>
            <a:off x="2095500" y="5994400"/>
            <a:ext cx="152400" cy="152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A4EBADA-9705-4D11-9494-E7980ED2E661}"/>
              </a:ext>
            </a:extLst>
          </p:cNvPr>
          <p:cNvSpPr txBox="1"/>
          <p:nvPr/>
        </p:nvSpPr>
        <p:spPr>
          <a:xfrm>
            <a:off x="2344184" y="6009044"/>
            <a:ext cx="952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800" dirty="0">
                <a:solidFill>
                  <a:srgbClr val="CBD5E1"/>
                </a:solidFill>
                <a:latin typeface="Aptos"/>
              </a:rPr>
              <a:t>Attention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83457842-93C6-4EDA-A1BC-C80FBD8E780C}"/>
              </a:ext>
            </a:extLst>
          </p:cNvPr>
          <p:cNvSpPr/>
          <p:nvPr/>
        </p:nvSpPr>
        <p:spPr>
          <a:xfrm>
            <a:off x="3416300" y="5994400"/>
            <a:ext cx="152400" cy="1524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2F95BC-47C7-4C59-9F7D-5260C73BC962}"/>
              </a:ext>
            </a:extLst>
          </p:cNvPr>
          <p:cNvSpPr txBox="1"/>
          <p:nvPr/>
        </p:nvSpPr>
        <p:spPr>
          <a:xfrm>
            <a:off x="3688316" y="6009044"/>
            <a:ext cx="952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800" dirty="0">
                <a:solidFill>
                  <a:srgbClr val="CBD5E1"/>
                </a:solidFill>
                <a:latin typeface="Aptos"/>
              </a:rPr>
              <a:t>Critique</a:t>
            </a:r>
          </a:p>
        </p:txBody>
      </p:sp>
    </p:spTree>
    <p:extLst>
      <p:ext uri="{BB962C8B-B14F-4D97-AF65-F5344CB8AC3E}">
        <p14:creationId xmlns:p14="http://schemas.microsoft.com/office/powerpoint/2010/main" val="149224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A0D3F-2D96-4C71-97B6-F765ACA1CA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5A73F4-4A3B-4B13-BEC0-D27C085EF1F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56AF825-3B3E-4EB3-AB29-159683EA5BCE}"/>
              </a:ext>
            </a:extLst>
          </p:cNvPr>
          <p:cNvSpPr txBox="1"/>
          <p:nvPr/>
        </p:nvSpPr>
        <p:spPr>
          <a:xfrm>
            <a:off x="10947400" y="2413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0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41A601-2320-4F33-B51D-ACEBAA5686E7}"/>
              </a:ext>
            </a:extLst>
          </p:cNvPr>
          <p:cNvSpPr txBox="1"/>
          <p:nvPr/>
        </p:nvSpPr>
        <p:spPr>
          <a:xfrm>
            <a:off x="546100" y="292100"/>
            <a:ext cx="520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800" b="1">
                <a:solidFill>
                  <a:srgbClr val="22D3EE"/>
                </a:solidFill>
                <a:latin typeface="Aptos"/>
              </a:rPr>
              <a:t>CONTEXTE TERRAIN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B1BD2A-8CAB-476D-AF6C-9DF99B3A8235}"/>
              </a:ext>
            </a:extLst>
          </p:cNvPr>
          <p:cNvSpPr txBox="1"/>
          <p:nvPr/>
        </p:nvSpPr>
        <p:spPr>
          <a:xfrm>
            <a:off x="533400" y="596900"/>
            <a:ext cx="889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600" b="1">
                <a:solidFill>
                  <a:srgbClr val="F8FAFC"/>
                </a:solidFill>
                <a:latin typeface="Aptos"/>
              </a:rPr>
              <a:t>Probleme observe sur le reseau BT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782C99-564D-4F22-B164-43D46FF5D8F6}"/>
              </a:ext>
            </a:extLst>
          </p:cNvPr>
          <p:cNvSpPr txBox="1"/>
          <p:nvPr/>
        </p:nvSpPr>
        <p:spPr>
          <a:xfrm>
            <a:off x="711200" y="1422400"/>
            <a:ext cx="711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100" b="1">
                <a:solidFill>
                  <a:srgbClr val="F8FAFC"/>
                </a:solidFill>
                <a:latin typeface="Aptos"/>
              </a:rPr>
              <a:t>Sans telemesure, l'exploitation reste surtout reactive.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58BD160-687B-4658-8375-B9192F51517B}"/>
              </a:ext>
            </a:extLst>
          </p:cNvPr>
          <p:cNvSpPr/>
          <p:nvPr/>
        </p:nvSpPr>
        <p:spPr>
          <a:xfrm>
            <a:off x="8547100" y="1168400"/>
            <a:ext cx="2159000" cy="2159000"/>
          </a:xfrm>
          <a:prstGeom prst="ellipse">
            <a:avLst/>
          </a:prstGeom>
          <a:solidFill>
            <a:srgbClr val="111D31"/>
          </a:solidFill>
          <a:ln w="2540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0E053B3-BB0D-4C8B-B2D0-C471CF2B6D70}"/>
              </a:ext>
            </a:extLst>
          </p:cNvPr>
          <p:cNvSpPr txBox="1"/>
          <p:nvPr/>
        </p:nvSpPr>
        <p:spPr>
          <a:xfrm>
            <a:off x="9169400" y="1422400"/>
            <a:ext cx="8255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6600" b="1">
                <a:solidFill>
                  <a:srgbClr val="EF4444"/>
                </a:solidFill>
                <a:latin typeface="Aptos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661E85-217A-4312-96F8-EC59241BD3D0}"/>
              </a:ext>
            </a:extLst>
          </p:cNvPr>
          <p:cNvSpPr/>
          <p:nvPr/>
        </p:nvSpPr>
        <p:spPr>
          <a:xfrm>
            <a:off x="685800" y="3708400"/>
            <a:ext cx="3403600" cy="1244600"/>
          </a:xfrm>
          <a:prstGeom prst="rect">
            <a:avLst/>
          </a:prstGeom>
          <a:solidFill>
            <a:srgbClr val="111D31"/>
          </a:solidFill>
          <a:ln w="12700">
            <a:solidFill>
              <a:srgbClr val="3143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7C114C-F8D6-41CF-957A-454FCFF3BE9C}"/>
              </a:ext>
            </a:extLst>
          </p:cNvPr>
          <p:cNvSpPr/>
          <p:nvPr/>
        </p:nvSpPr>
        <p:spPr>
          <a:xfrm>
            <a:off x="685800" y="3708400"/>
            <a:ext cx="76200" cy="1244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46EEE1-04C3-4B21-B090-3C87F7DE37A2}"/>
              </a:ext>
            </a:extLst>
          </p:cNvPr>
          <p:cNvSpPr txBox="1"/>
          <p:nvPr/>
        </p:nvSpPr>
        <p:spPr>
          <a:xfrm>
            <a:off x="889000" y="3873500"/>
            <a:ext cx="304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F8FAFC"/>
                </a:solidFill>
                <a:latin typeface="Aptos"/>
              </a:rPr>
              <a:t>Chutes de tension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E4798B8-28C0-4637-B7B5-BA7BC39004CC}"/>
              </a:ext>
            </a:extLst>
          </p:cNvPr>
          <p:cNvSpPr txBox="1"/>
          <p:nvPr/>
        </p:nvSpPr>
        <p:spPr>
          <a:xfrm>
            <a:off x="889000" y="42799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000">
                <a:solidFill>
                  <a:srgbClr val="CBD5E1"/>
                </a:solidFill>
                <a:latin typeface="Aptos"/>
              </a:rPr>
              <a:t>Difficiles a localiser sans mesure proche du terrain.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F5546-07F3-4414-B1BA-FB794B2DCF18}"/>
              </a:ext>
            </a:extLst>
          </p:cNvPr>
          <p:cNvSpPr/>
          <p:nvPr/>
        </p:nvSpPr>
        <p:spPr>
          <a:xfrm>
            <a:off x="4406900" y="3708400"/>
            <a:ext cx="3403600" cy="1244600"/>
          </a:xfrm>
          <a:prstGeom prst="rect">
            <a:avLst/>
          </a:prstGeom>
          <a:solidFill>
            <a:srgbClr val="111D31"/>
          </a:solidFill>
          <a:ln w="12700">
            <a:solidFill>
              <a:srgbClr val="3143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B7898-50C3-4E51-B00D-DD9E30885A6D}"/>
              </a:ext>
            </a:extLst>
          </p:cNvPr>
          <p:cNvSpPr/>
          <p:nvPr/>
        </p:nvSpPr>
        <p:spPr>
          <a:xfrm>
            <a:off x="4406900" y="3708400"/>
            <a:ext cx="76200" cy="1244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D92A506-6020-477E-837E-6E2DF20DF538}"/>
              </a:ext>
            </a:extLst>
          </p:cNvPr>
          <p:cNvSpPr txBox="1"/>
          <p:nvPr/>
        </p:nvSpPr>
        <p:spPr>
          <a:xfrm>
            <a:off x="4610100" y="3873500"/>
            <a:ext cx="304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F8FAFC"/>
                </a:solidFill>
                <a:latin typeface="Aptos"/>
              </a:rPr>
              <a:t>Diagnostic lent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B1921D0-B492-44D3-AB34-3FC50FA16CDB}"/>
              </a:ext>
            </a:extLst>
          </p:cNvPr>
          <p:cNvSpPr txBox="1"/>
          <p:nvPr/>
        </p:nvSpPr>
        <p:spPr>
          <a:xfrm>
            <a:off x="4610100" y="42799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000">
                <a:solidFill>
                  <a:srgbClr val="CBD5E1"/>
                </a:solidFill>
                <a:latin typeface="Aptos"/>
              </a:rPr>
              <a:t>Peu d'historique exploitable pour orienter l'intervention.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6331E-D31E-4140-B1AA-B80E06F6EE38}"/>
              </a:ext>
            </a:extLst>
          </p:cNvPr>
          <p:cNvSpPr/>
          <p:nvPr/>
        </p:nvSpPr>
        <p:spPr>
          <a:xfrm>
            <a:off x="8140700" y="3708400"/>
            <a:ext cx="3403600" cy="1244600"/>
          </a:xfrm>
          <a:prstGeom prst="rect">
            <a:avLst/>
          </a:prstGeom>
          <a:solidFill>
            <a:srgbClr val="111D31"/>
          </a:solidFill>
          <a:ln w="12700">
            <a:solidFill>
              <a:srgbClr val="3143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C6CEB9-ED8B-4B19-AABE-9123806F1A44}"/>
              </a:ext>
            </a:extLst>
          </p:cNvPr>
          <p:cNvSpPr/>
          <p:nvPr/>
        </p:nvSpPr>
        <p:spPr>
          <a:xfrm>
            <a:off x="8140700" y="3708400"/>
            <a:ext cx="76200" cy="1244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7CCA07-318C-4C18-B8E7-160124896277}"/>
              </a:ext>
            </a:extLst>
          </p:cNvPr>
          <p:cNvSpPr txBox="1"/>
          <p:nvPr/>
        </p:nvSpPr>
        <p:spPr>
          <a:xfrm>
            <a:off x="8343900" y="3873500"/>
            <a:ext cx="304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F8FAFC"/>
                </a:solidFill>
                <a:latin typeface="Aptos"/>
              </a:rPr>
              <a:t>Alertes tardives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47F21C-CA17-4000-94D2-4431B54F084A}"/>
              </a:ext>
            </a:extLst>
          </p:cNvPr>
          <p:cNvSpPr txBox="1"/>
          <p:nvPr/>
        </p:nvSpPr>
        <p:spPr>
          <a:xfrm>
            <a:off x="8343900" y="4279900"/>
            <a:ext cx="304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000">
                <a:solidFill>
                  <a:srgbClr val="CBD5E1"/>
                </a:solidFill>
                <a:latin typeface="Aptos"/>
              </a:rPr>
              <a:t>Surcharge ou desequilibre detectes apres degradation du service.</a:t>
            </a:r>
          </a:p>
        </p:txBody>
      </p:sp>
    </p:spTree>
    <p:extLst>
      <p:ext uri="{BB962C8B-B14F-4D97-AF65-F5344CB8AC3E}">
        <p14:creationId xmlns:p14="http://schemas.microsoft.com/office/powerpoint/2010/main" val="29510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FINALITE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Objectif du prototype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3127248" cy="2011680"/>
          </a:xfrm>
          <a:prstGeom prst="roundRect">
            <a:avLst>
              <a:gd name="adj" fmla="val 3636"/>
            </a:avLst>
          </a:prstGeom>
          <a:solidFill>
            <a:srgbClr val="111D31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10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99616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Mesurer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9848" y="2532888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Tension terrain sur un noeud reel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44568" y="1600200"/>
            <a:ext cx="3127248" cy="2011680"/>
          </a:xfrm>
          <a:prstGeom prst="roundRect">
            <a:avLst>
              <a:gd name="adj" fmla="val 3636"/>
            </a:avLst>
          </a:prstGeom>
          <a:solidFill>
            <a:srgbClr val="111D31"/>
          </a:solidFill>
          <a:ln w="2032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810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94376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Transmettre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64608" y="2532888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Gateway Python, MQTT, backend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39328" y="1600200"/>
            <a:ext cx="3127248" cy="2011680"/>
          </a:xfrm>
          <a:prstGeom prst="roundRect">
            <a:avLst>
              <a:gd name="adj" fmla="val 3636"/>
            </a:avLst>
          </a:prstGeom>
          <a:solidFill>
            <a:srgbClr val="111D31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1810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89136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Superviser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59368" y="2532888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Carte, alertes, journal, commande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13632" y="2578608"/>
            <a:ext cx="493776" cy="0"/>
          </a:xfrm>
          <a:prstGeom prst="line">
            <a:avLst/>
          </a:prstGeom>
          <a:noFill/>
          <a:ln w="330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9248" y="2578608"/>
            <a:ext cx="502920" cy="0"/>
          </a:xfrm>
          <a:prstGeom prst="line">
            <a:avLst/>
          </a:prstGeom>
          <a:noFill/>
          <a:ln w="330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" y="457200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57200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Prototype reel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102352"/>
            <a:ext cx="43891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NODE_LUB_001 : Arduino UNO, potentiometre, relais.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457200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57200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Projection simulee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5102352"/>
            <a:ext cx="43891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Vision ville : cabines, departs BT, poteaux et etats reseau.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PERIMETRE SCADA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Solution proposee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111D31"/>
          </a:solidFill>
          <a:ln w="12700">
            <a:solidFill>
              <a:srgbClr val="3143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Perimetre supervise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97280" y="2487168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cabine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3273552"/>
            <a:ext cx="210312" cy="2103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Depart BT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97280" y="4059936"/>
            <a:ext cx="210312" cy="2103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poteau strategique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17243A"/>
          </a:solidFill>
          <a:ln w="12700">
            <a:solidFill>
              <a:srgbClr val="314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Interface operateur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12280" y="233172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2331720"/>
            <a:ext cx="6400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Carte geographique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12280" y="313639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136392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300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Journal SCADA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12280" y="394106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3941064"/>
            <a:ext cx="64008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Delestage / retablissement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23560" y="3493008"/>
            <a:ext cx="73152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76288" y="519379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517550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Normal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02168" y="519379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517550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Attention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28048" y="519379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517550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Critique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506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FLUX DE SUPERVISION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Architecture technique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Arduino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mesure + relais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011680" y="2871216"/>
            <a:ext cx="402336" cy="0"/>
          </a:xfrm>
          <a:prstGeom prst="line">
            <a:avLst/>
          </a:prstGeom>
          <a:noFill/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Gateway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9689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Python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931920" y="2871216"/>
            <a:ext cx="402336" cy="0"/>
          </a:xfrm>
          <a:prstGeom prst="line">
            <a:avLst/>
          </a:prstGeom>
          <a:noFill/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740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MQTT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1713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messages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852160" y="2871216"/>
            <a:ext cx="402336" cy="0"/>
          </a:xfrm>
          <a:prstGeom prst="line">
            <a:avLst/>
          </a:prstGeom>
          <a:noFill/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2764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Backend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3737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FastAPI + SQLite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0" y="2871216"/>
            <a:ext cx="402336" cy="0"/>
          </a:xfrm>
          <a:prstGeom prst="line">
            <a:avLst/>
          </a:prstGeom>
          <a:noFill/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4788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WebSocket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5761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temps reel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692640" y="2871216"/>
            <a:ext cx="402336" cy="0"/>
          </a:xfrm>
          <a:prstGeom prst="line">
            <a:avLst/>
          </a:prstGeom>
          <a:noFill/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68128" y="2423160"/>
            <a:ext cx="1417320" cy="896112"/>
          </a:xfrm>
          <a:prstGeom prst="roundRect">
            <a:avLst>
              <a:gd name="adj" fmla="val 8163"/>
            </a:avLst>
          </a:prstGeom>
          <a:solidFill>
            <a:srgbClr val="17243A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57860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Frontend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277856" y="289864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CBD5E1"/>
                </a:solidFill>
              </a:rPr>
              <a:t>React + Leaflet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261872" y="3730752"/>
            <a:ext cx="9601200" cy="0"/>
          </a:xfrm>
          <a:prstGeom prst="line">
            <a:avLst/>
          </a:prstGeom>
          <a:noFill/>
          <a:ln w="15240">
            <a:solidFill>
              <a:srgbClr val="3143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B981"/>
                </a:solidFill>
              </a:rPr>
              <a:t>Mesure terrain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88036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</a:rPr>
              <a:t>Transmission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2356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</a:rPr>
              <a:t>Stockage et analyse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91540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Visualisation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05840" y="507492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5074920"/>
            <a:ext cx="64008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5239512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Principe conserve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5605272"/>
            <a:ext cx="97383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L'architecture generale reste Arduino -&gt; Gateway MQTT -&gt; Backend FastAPI -&gt; SQLite -&gt; WebSocket -&gt; Frontend React Leaflet.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0" y="228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</a:rPr>
              <a:t>DEMONSTRATION REELLE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6035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Prototype materiel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1627632" cy="749808"/>
          </a:xfrm>
          <a:prstGeom prst="rect">
            <a:avLst/>
          </a:prstGeom>
          <a:solidFill>
            <a:srgbClr val="1724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556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Potentiometre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0848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A0 : tension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2907792"/>
            <a:ext cx="1627632" cy="749808"/>
          </a:xfrm>
          <a:prstGeom prst="rect">
            <a:avLst/>
          </a:prstGeom>
          <a:solidFill>
            <a:srgbClr val="1724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358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Photoresistance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3649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A1 : intensite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2267712"/>
            <a:ext cx="1783080" cy="896112"/>
          </a:xfrm>
          <a:prstGeom prst="rect">
            <a:avLst/>
          </a:prstGeom>
          <a:solidFill>
            <a:srgbClr val="1724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23957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Arduino UNO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9272" y="272491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NODE_LUB_001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52160" y="2331720"/>
            <a:ext cx="1600200" cy="749808"/>
          </a:xfrm>
          <a:prstGeom prst="rect">
            <a:avLst/>
          </a:prstGeom>
          <a:solidFill>
            <a:srgbClr val="17243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45973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USB PC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25312" y="278892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liaison serie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2267712"/>
            <a:ext cx="1920240" cy="896112"/>
          </a:xfrm>
          <a:prstGeom prst="rect">
            <a:avLst/>
          </a:prstGeom>
          <a:solidFill>
            <a:srgbClr val="1724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3957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48472" y="272491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supervision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31720" y="2002536"/>
            <a:ext cx="868680" cy="521208"/>
          </a:xfrm>
          <a:prstGeom prst="line">
            <a:avLst/>
          </a:prstGeom>
          <a:noFill/>
          <a:ln w="2667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2779776"/>
            <a:ext cx="868680" cy="502920"/>
          </a:xfrm>
          <a:prstGeom prst="line">
            <a:avLst/>
          </a:prstGeom>
          <a:noFill/>
          <a:ln w="2667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74920" y="2715768"/>
            <a:ext cx="731520" cy="9144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98080" y="2715768"/>
            <a:ext cx="731520" cy="9144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4480560"/>
            <a:ext cx="1700784" cy="749808"/>
          </a:xfrm>
          <a:prstGeom prst="rect">
            <a:avLst/>
          </a:prstGeom>
          <a:solidFill>
            <a:srgbClr val="1724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Relais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64992" y="4937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D2 : commande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0" y="4846320"/>
            <a:ext cx="3246120" cy="9144"/>
          </a:xfrm>
          <a:prstGeom prst="line">
            <a:avLst/>
          </a:prstGeom>
          <a:noFill/>
          <a:ln w="2921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548640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</a:rPr>
              <a:t>Commande depuis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623560"/>
            <a:ext cx="4983480" cy="502920"/>
          </a:xfrm>
          <a:prstGeom prst="rect">
            <a:avLst/>
          </a:prstGeom>
          <a:solidFill>
            <a:srgbClr val="111D31"/>
          </a:solidFill>
          <a:ln w="12700">
            <a:solidFill>
              <a:srgbClr val="3143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562356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78815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8FAFC"/>
                </a:solidFill>
              </a:rPr>
              <a:t>Reel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78408" y="6153912"/>
            <a:ext cx="45994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BD5E1"/>
                </a:solidFill>
              </a:rPr>
              <a:t>Arduino, potentiometre, photoresistance, relais, gateway.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355080" y="5623560"/>
            <a:ext cx="4526280" cy="502920"/>
          </a:xfrm>
          <a:prstGeom prst="rect">
            <a:avLst/>
          </a:prstGeom>
          <a:solidFill>
            <a:srgbClr val="111D31"/>
          </a:solidFill>
          <a:ln w="12700">
            <a:solidFill>
              <a:srgbClr val="31435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562356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578815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8FAFC"/>
                </a:solidFill>
              </a:rPr>
              <a:t>Simule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556248" y="6153912"/>
            <a:ext cx="41422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BD5E1"/>
                </a:solidFill>
              </a:rPr>
              <a:t>Charge, temperature et Vision ville.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PREUVE VISUELLE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Resultat obtenu</a:t>
            </a:r>
            <a:endParaRPr lang="en-US" sz="2600" dirty="0"/>
          </a:p>
        </p:txBody>
      </p:sp>
      <p:pic>
        <p:nvPicPr>
          <p:cNvPr id="7" name="Image 0" descr="C:\Users\User\Documents\syst-me-de-supervision-intelligente-du-r-seau-lectrique-basse-tension\dashboard_result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7818120" cy="489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234440"/>
            <a:ext cx="7818120" cy="4892040"/>
          </a:xfrm>
          <a:prstGeom prst="roundRect">
            <a:avLst>
              <a:gd name="adj" fmla="val 1495"/>
            </a:avLst>
          </a:prstGeom>
          <a:solidFill>
            <a:srgbClr val="FFFFFF">
              <a:alpha val="0"/>
            </a:srgbClr>
          </a:solidFill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41080" y="1325880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41080" y="132588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1490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Mesure visible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869680" y="1856232"/>
            <a:ext cx="2468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Tension, etat du noeud et derniere mesure recue.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641080" y="2788920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1080" y="27889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2953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Journal SCADA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869680" y="3319272"/>
            <a:ext cx="2468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Evenements, alarmes et traces operateur.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641080" y="4251960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41080" y="425196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416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Commande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869680" y="4782312"/>
            <a:ext cx="2468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Delestage et retablissement via relais prototype.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8506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PROJECTION SIMULEE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Vision ville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589520" y="713232"/>
            <a:ext cx="3337560" cy="301752"/>
          </a:xfrm>
          <a:prstGeom prst="roundRect">
            <a:avLst>
              <a:gd name="adj" fmla="val 42424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672" y="777240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DONNEES SIMULEES POUR PROJECTION RESEAU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D31"/>
          </a:solidFill>
          <a:ln w="1397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63624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92808" y="16733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cabines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43984" y="14173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D31"/>
          </a:solidFill>
          <a:ln w="13970">
            <a:solidFill>
              <a:srgbClr val="22D3EE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563624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78424" y="16733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departs BT par cabine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D31"/>
          </a:solidFill>
          <a:ln w="1397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563624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64040" y="16733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poteaux supervises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3154680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111D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Cabine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230 V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2679192" y="3602736"/>
            <a:ext cx="758952" cy="0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66160" y="3154680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111D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P1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03320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225 V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440680" y="3602736"/>
            <a:ext cx="758952" cy="0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27648" y="3154680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111D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P2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64808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220 V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202168" y="3602736"/>
            <a:ext cx="758952" cy="0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89136" y="3154680"/>
            <a:ext cx="1828800" cy="896112"/>
          </a:xfrm>
          <a:prstGeom prst="roundRect">
            <a:avLst>
              <a:gd name="adj" fmla="val 8163"/>
            </a:avLst>
          </a:prstGeom>
          <a:solidFill>
            <a:srgbClr val="111D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P3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26296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212 V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14400" y="4407408"/>
            <a:ext cx="8686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Profil de chute de tension le long d'un depart BT : lecture simple pour la soutenance.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2688" y="513892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512064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Normal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58568" y="51389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9736" y="512064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Attention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84448" y="513892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512064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</a:rPr>
              <a:t>Critique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SOCLE TECHNIQUE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Technologies utilisees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98576" y="16002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111D31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47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Terrain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783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Arduino UNO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F8FAFC"/>
                </a:solidFill>
              </a:rPr>
              <a:t>Potentiometre</a:t>
            </a:r>
            <a:endParaRPr lang="en-US" sz="1500" b="1" dirty="0">
              <a:solidFill>
                <a:srgbClr val="F8FAFC"/>
              </a:solidFill>
            </a:endParaRPr>
          </a:p>
          <a:p>
            <a:pPr algn="ctr"/>
            <a:r>
              <a:rPr lang="en-US" sz="1600" b="1" dirty="0" err="1">
                <a:solidFill>
                  <a:srgbClr val="CBD5E1"/>
                </a:solidFill>
              </a:rPr>
              <a:t>Photoresistance</a:t>
            </a:r>
            <a:endParaRPr lang="en-US" sz="1500" b="1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Relais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84448" y="16002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111D31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847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58768" y="2514600"/>
            <a:ext cx="1783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Gateway 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MQTT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37376" y="16002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111D31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847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Backend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11696" y="2514600"/>
            <a:ext cx="1783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FastAPI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SQLite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WebSocket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90304" y="16002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111D31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1847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Frontend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64624" y="2514600"/>
            <a:ext cx="1783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React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Leaflet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715000"/>
            <a:ext cx="9784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Choix retenu : une architecture lisible, locale et extensible, adaptee a une demonstration academique.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CE QUI EST PROUVE / NON PROMIS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Limites du prototype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11D31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32588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11D31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64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Ce que le prototype prouve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5664" y="1664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Ce qu'il ne promet pas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329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B981"/>
                </a:solidFill>
              </a:rPr>
              <a:t>OK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508760" y="2313432"/>
            <a:ext cx="3840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Mesure terrain sur NODE_LUB_001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2999232"/>
            <a:ext cx="329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B981"/>
                </a:solidFill>
              </a:rPr>
              <a:t>OK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508760" y="2916936"/>
            <a:ext cx="3840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Transmission jusqu'au 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3602736"/>
            <a:ext cx="329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B981"/>
                </a:solidFill>
              </a:rPr>
              <a:t>OK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50876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Journal SCADA et commande relais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4206240"/>
            <a:ext cx="3291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B981"/>
                </a:solidFill>
              </a:rPr>
              <a:t>OK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508760" y="4123944"/>
            <a:ext cx="3840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Projection multi-cabines lisible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2395728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59E0B"/>
                </a:solidFill>
              </a:rPr>
              <a:t>NON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7059168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Pas de surveillance maison par maison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59E0B"/>
                </a:solidFill>
              </a:rPr>
              <a:t>NON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059168" y="2916936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Pas de GPS embarque par poteau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360273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59E0B"/>
                </a:solidFill>
              </a:rPr>
              <a:t>NON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7059168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Courant et charge encore simules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59E0B"/>
                </a:solidFill>
              </a:rPr>
              <a:t>NON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059168" y="4123944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</a:rPr>
              <a:t>Pas un deploiement industriel complet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APRES PROTOTYPE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Perspectives d'evolution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783080" y="1874520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2450592" cy="1234440"/>
          </a:xfrm>
          <a:prstGeom prst="roundRect">
            <a:avLst>
              <a:gd name="adj" fmla="val 5926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8892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953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Stabiliser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31927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CBD5E1"/>
                </a:solidFill>
              </a:rPr>
              <a:t>tests terrain, robustesse gateway, supervision continue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3401568" y="2231136"/>
            <a:ext cx="1133856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0" y="1874520"/>
            <a:ext cx="694944" cy="6949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2788920"/>
            <a:ext cx="2450592" cy="1234440"/>
          </a:xfrm>
          <a:prstGeom prst="roundRect">
            <a:avLst>
              <a:gd name="adj" fmla="val 5926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788920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53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Modeliser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31927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CBD5E1"/>
                </a:solidFill>
              </a:rPr>
              <a:t>cabines, departs BT, historiques et seuils par zone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104888" y="2231136"/>
            <a:ext cx="1133856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21040" y="2788920"/>
            <a:ext cx="2450592" cy="1234440"/>
          </a:xfrm>
          <a:prstGeom prst="roundRect">
            <a:avLst>
              <a:gd name="adj" fmla="val 5926"/>
            </a:avLst>
          </a:prstGeom>
          <a:solidFill>
            <a:srgbClr val="111D31"/>
          </a:solidFill>
          <a:ln w="13970">
            <a:solidFill>
              <a:srgbClr val="31435D">
                <a:alpha val="9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78892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2953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Industrialiser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331927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CBD5E1"/>
                </a:solidFill>
              </a:rPr>
              <a:t>materiel certifie, securite, exploitation a grande echelle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1051560" y="5138928"/>
            <a:ext cx="8046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</a:rPr>
              <a:t>Perspective d'evolution, pas promesse de deploiement immediat.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27080" y="2560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SYNTHESE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Chronologie et 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621792" cy="6217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116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F"/>
                </a:solidFill>
              </a:rPr>
              <a:t>J1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26700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cadrage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99616" y="2185416"/>
            <a:ext cx="1481328" cy="0"/>
          </a:xfrm>
          <a:prstGeom prst="line">
            <a:avLst/>
          </a:prstGeom>
          <a:noFill/>
          <a:ln w="26670">
            <a:solidFill>
              <a:srgbClr val="31435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81528" y="1874520"/>
            <a:ext cx="621792" cy="6217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0116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F"/>
                </a:solidFill>
              </a:rPr>
              <a:t>J2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1488" y="26700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montage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39896" y="2185416"/>
            <a:ext cx="1481328" cy="0"/>
          </a:xfrm>
          <a:prstGeom prst="line">
            <a:avLst/>
          </a:prstGeom>
          <a:noFill/>
          <a:ln w="26670">
            <a:solidFill>
              <a:srgbClr val="31435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21808" y="1874520"/>
            <a:ext cx="621792" cy="6217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20116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F"/>
                </a:solidFill>
              </a:rPr>
              <a:t>J3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26700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backend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0176" y="2185416"/>
            <a:ext cx="1481328" cy="0"/>
          </a:xfrm>
          <a:prstGeom prst="line">
            <a:avLst/>
          </a:prstGeom>
          <a:noFill/>
          <a:ln w="26670">
            <a:solidFill>
              <a:srgbClr val="31435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62088" y="1874520"/>
            <a:ext cx="621792" cy="6217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20116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F"/>
                </a:solidFill>
              </a:rPr>
              <a:t>J4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42048" y="26700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dashboard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0456" y="2185416"/>
            <a:ext cx="1481328" cy="0"/>
          </a:xfrm>
          <a:prstGeom prst="line">
            <a:avLst/>
          </a:prstGeom>
          <a:noFill/>
          <a:ln w="26670">
            <a:solidFill>
              <a:srgbClr val="31435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02368" y="187452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20116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F"/>
                </a:solidFill>
              </a:rPr>
              <a:t>J5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82328" y="26700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demo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3977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SuperVolt rend visible l'etat d'un reseau BT local.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932688" y="471830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Le prototype demontre la chaine complete : mesure, transmission, alerte, commande et visualisation SCADA.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688" y="5623560"/>
            <a:ext cx="4297680" cy="301752"/>
          </a:xfrm>
          <a:prstGeom prst="roundRect">
            <a:avLst>
              <a:gd name="adj" fmla="val 4242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687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Prototype academique credible - extension industrielle possible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594</Words>
  <Application>Microsoft Office PowerPoint</Application>
  <PresentationFormat>Grand écran</PresentationFormat>
  <Paragraphs>209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David Munde</dc:creator>
  <cp:lastModifiedBy>David Munde</cp:lastModifiedBy>
  <cp:revision>4</cp:revision>
  <dcterms:created xsi:type="dcterms:W3CDTF">2026-06-09T00:44:54Z</dcterms:created>
  <dcterms:modified xsi:type="dcterms:W3CDTF">2026-06-09T01:04:49Z</dcterms:modified>
</cp:coreProperties>
</file>